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The Problem: Why Traditional SDLC Falls Short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8B949E"/>
                </a:solidFill>
              </a:defRPr>
            </a:pPr>
            <a:r>
              <a:t>Enterprise teams face compounding security &amp; delivery challenges that manual processes can't solve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0876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27000" bIns="101600"/>
          <a:lstStyle/>
          <a:p>
            <a:pPr algn="l">
              <a:defRPr sz="1400" b="1">
                <a:solidFill>
                  <a:srgbClr val="F85149"/>
                </a:solidFill>
              </a:defRPr>
            </a:pPr>
            <a:r>
              <a:t>🔓  Security as an Afterthought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9D1D9"/>
                </a:solidFill>
              </a:defRPr>
            </a:pPr>
            <a:r>
              <a:t>  •  Vulnerabilities found late in production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9D1D9"/>
                </a:solidFill>
              </a:defRPr>
            </a:pPr>
            <a:r>
              <a:t>  •  Secret sprawl — keys in code &amp; configs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9D1D9"/>
                </a:solidFill>
              </a:defRPr>
            </a:pPr>
            <a:r>
              <a:t>  •  No automated SAST/DAST in CI pipelines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9D1D9"/>
                </a:solidFill>
              </a:defRPr>
            </a:pPr>
            <a:r>
              <a:t>  •  OWASP Top 10 gaps undetected until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50876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27000" bIns="101600"/>
          <a:lstStyle/>
          <a:p>
            <a:pPr algn="l">
              <a:defRPr sz="1400" b="1">
                <a:solidFill>
                  <a:srgbClr val="F0883E"/>
                </a:solidFill>
              </a:defRPr>
            </a:pPr>
            <a:r>
              <a:t>🐢  Slow, Manual Release Process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9D1D9"/>
                </a:solidFill>
              </a:defRPr>
            </a:pPr>
            <a:r>
              <a:t>  •  Weeks-long deploy cycles with manual gates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9D1D9"/>
                </a:solidFill>
              </a:defRPr>
            </a:pPr>
            <a:r>
              <a:t>  •  No immutable artifacts — 'it works on my machine'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9D1D9"/>
                </a:solidFill>
              </a:defRPr>
            </a:pPr>
            <a:r>
              <a:t>  •  Credential rotation is manual &amp; error-prone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9D1D9"/>
                </a:solidFill>
              </a:defRPr>
            </a:pPr>
            <a:r>
              <a:t>  •  Environment drift between dev/staging/prod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50876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27000" bIns="101600"/>
          <a:lstStyle/>
          <a:p>
            <a:pPr algn="l">
              <a:defRPr sz="1400" b="1">
                <a:solidFill>
                  <a:srgbClr val="BC8CFF"/>
                </a:solidFill>
              </a:defRPr>
            </a:pPr>
            <a:r>
              <a:t>🔍  Zero Traceability &amp; Visibility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9D1D9"/>
                </a:solidFill>
              </a:defRPr>
            </a:pPr>
            <a:r>
              <a:t>  •  No link from requirement → code → deployment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9D1D9"/>
                </a:solidFill>
              </a:defRPr>
            </a:pPr>
            <a:r>
              <a:t>  •  Audit readiness takes weeks of manual effort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9D1D9"/>
                </a:solidFill>
              </a:defRPr>
            </a:pPr>
            <a:r>
              <a:t>  •  Dependency risks invisible until CVE hits prod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9D1D9"/>
                </a:solidFill>
              </a:defRPr>
            </a:pPr>
            <a:r>
              <a:t>  •  Siloed tools with no unified security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9476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27000" bIns="101600"/>
          <a:lstStyle/>
          <a:p>
            <a:pPr algn="l">
              <a:defRPr sz="1400" b="1">
                <a:solidFill>
                  <a:srgbClr val="58A6FF"/>
                </a:solidFill>
              </a:defRPr>
            </a:pPr>
            <a:r>
              <a:t>⚙️  Infrastructure Inconsistency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9D1D9"/>
                </a:solidFill>
              </a:defRPr>
            </a:pPr>
            <a:r>
              <a:t>  •  Hand-crafted environments = configuration drift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9D1D9"/>
                </a:solidFill>
              </a:defRPr>
            </a:pPr>
            <a:r>
              <a:t>  •  No IaC scanning — misconfigs reach production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9D1D9"/>
                </a:solidFill>
              </a:defRPr>
            </a:pPr>
            <a:r>
              <a:t>  •  Public endpoints exposed by default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9D1D9"/>
                </a:solidFill>
              </a:defRPr>
            </a:pPr>
            <a:r>
              <a:t>  •  Missing diagnostics &amp; monitoring blind spots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79476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27000" bIns="101600"/>
          <a:lstStyle/>
          <a:p>
            <a:pPr algn="l">
              <a:defRPr sz="1400" b="1">
                <a:solidFill>
                  <a:srgbClr val="3FB950"/>
                </a:solidFill>
              </a:defRPr>
            </a:pPr>
            <a:r>
              <a:t>📦  Supply Chain Risks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9D1D9"/>
                </a:solidFill>
              </a:defRPr>
            </a:pPr>
            <a:r>
              <a:t>  •  No dependency review on pull requests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9D1D9"/>
                </a:solidFill>
              </a:defRPr>
            </a:pPr>
            <a:r>
              <a:t>  •  Unsigned container images in production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9D1D9"/>
                </a:solidFill>
              </a:defRPr>
            </a:pPr>
            <a:r>
              <a:t>  •  Typosquatting &amp; malicious packages undetected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9D1D9"/>
                </a:solidFill>
              </a:defRPr>
            </a:pPr>
            <a:r>
              <a:t>  •  No SBOM or provenance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3794760"/>
            <a:ext cx="3474720" cy="201168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E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27000" bIns="101600"/>
          <a:lstStyle/>
          <a:p>
            <a:pPr algn="l">
              <a:defRPr sz="1400" b="1">
                <a:solidFill>
                  <a:srgbClr val="E07070"/>
                </a:solidFill>
              </a:defRPr>
            </a:pPr>
            <a:r>
              <a:t>🧩  Developer Friction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9D1D9"/>
                </a:solidFill>
              </a:defRPr>
            </a:pPr>
            <a:r>
              <a:t>  •  Context-switching across disconnected tools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9D1D9"/>
                </a:solidFill>
              </a:defRPr>
            </a:pPr>
            <a:r>
              <a:t>  •  Security findings without remediation guidance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9D1D9"/>
                </a:solidFill>
              </a:defRPr>
            </a:pPr>
            <a:r>
              <a:t>  •  No AI-assisted development workflow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9D1D9"/>
                </a:solidFill>
              </a:defRPr>
            </a:pPr>
            <a:r>
              <a:t>  •  Manual work-item tracking &amp; status updates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85149"/>
                </a:solidFill>
              </a:defRPr>
            </a:pPr>
            <a:r>
              <a:t>Result:  Slower releases  •  Higher risk  •  Audit failures  •  Developer burnout  •  No end-to-end traceability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Solution: Modern Secure SDLC — GitHub + Azure Enterprise Pipeline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8B949E"/>
                </a:solidFill>
              </a:defRPr>
            </a:pPr>
            <a:r>
              <a:t>End-to-end DevSecOps  •  Zero stored credentials  •  Progressive deployment  •  Full traceability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051560"/>
            <a:ext cx="1737360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/>
          <a:lstStyle/>
          <a:p>
            <a:pPr algn="ctr">
              <a:defRPr sz="1100" b="1">
                <a:solidFill>
                  <a:srgbClr val="79C0FF"/>
                </a:solidFill>
              </a:defRPr>
            </a:pPr>
            <a:r>
              <a:t>① WORK</a:t>
            </a:r>
            <a:br/>
            <a:r>
              <a:t>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94559" y="1051560"/>
            <a:ext cx="2354580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50800" bIns="25400"/>
          <a:lstStyle/>
          <a:p>
            <a:pPr algn="ctr">
              <a:defRPr sz="1000" b="1">
                <a:solidFill>
                  <a:srgbClr val="58A6FF"/>
                </a:solidFill>
              </a:defRPr>
            </a:pPr>
            <a:r>
              <a:t>ADO Boards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C9D1D9"/>
                </a:solidFill>
              </a:defRPr>
            </a:pPr>
            <a:r>
              <a:t>Epics → Stories → Tasks</a:t>
            </a:r>
            <a:br/>
            <a:r>
              <a:t>Sprint planning &amp; velocity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25339" y="1051560"/>
            <a:ext cx="2354580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50800" bIns="25400"/>
          <a:lstStyle/>
          <a:p>
            <a:pPr algn="ctr">
              <a:defRPr sz="1000" b="1">
                <a:solidFill>
                  <a:srgbClr val="58A6FF"/>
                </a:solidFill>
              </a:defRPr>
            </a:pPr>
            <a:r>
              <a:t>GitHub Issues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C9D1D9"/>
                </a:solidFill>
              </a:defRPr>
            </a:pPr>
            <a:r>
              <a:t>Labels, milestones</a:t>
            </a:r>
            <a:br/>
            <a:r>
              <a:t>Projects v2 boards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56119" y="1051560"/>
            <a:ext cx="2354580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50800" bIns="25400"/>
          <a:lstStyle/>
          <a:p>
            <a:pPr algn="ctr">
              <a:defRPr sz="1000" b="1">
                <a:solidFill>
                  <a:srgbClr val="58A6FF"/>
                </a:solidFill>
              </a:defRPr>
            </a:pPr>
            <a:r>
              <a:t>AB# Integration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C9D1D9"/>
                </a:solidFill>
              </a:defRPr>
            </a:pPr>
            <a:r>
              <a:t>Bidirectional links</a:t>
            </a:r>
            <a:br/>
            <a:r>
              <a:t>Commit → Work item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86899" y="1051560"/>
            <a:ext cx="2354580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50800" bIns="25400"/>
          <a:lstStyle/>
          <a:p>
            <a:pPr algn="ctr">
              <a:defRPr sz="1000" b="1">
                <a:solidFill>
                  <a:srgbClr val="58A6FF"/>
                </a:solidFill>
              </a:defRPr>
            </a:pPr>
            <a:r>
              <a:t>Copilot Agent Bridge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C9D1D9"/>
                </a:solidFill>
              </a:defRPr>
            </a:pPr>
            <a:r>
              <a:t>ADO → repository_dispatch</a:t>
            </a:r>
            <a:br/>
            <a:r>
              <a:t>AI-assisted PR creation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856232"/>
            <a:ext cx="1737360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/>
          <a:lstStyle/>
          <a:p>
            <a:pPr algn="ctr">
              <a:defRPr sz="1100" b="1">
                <a:solidFill>
                  <a:srgbClr val="3FB950"/>
                </a:solidFill>
              </a:defRPr>
            </a:pPr>
            <a:r>
              <a:t>② GITHUB</a:t>
            </a:r>
            <a:br/>
            <a:r>
              <a:t>PLATFORM + GHAS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59" y="1856232"/>
            <a:ext cx="1868424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50800" bIns="25400"/>
          <a:lstStyle/>
          <a:p>
            <a:pPr algn="ctr">
              <a:defRPr sz="1000" b="1">
                <a:solidFill>
                  <a:srgbClr val="58A6FF"/>
                </a:solidFill>
              </a:defRPr>
            </a:pPr>
            <a:r>
              <a:t>Branch Protection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C9D1D9"/>
                </a:solidFill>
              </a:defRPr>
            </a:pPr>
            <a:r>
              <a:t>2 approvals, signed commits</a:t>
            </a:r>
            <a:br/>
            <a:r>
              <a:t>CODEOWNERS enforcement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39183" y="1856232"/>
            <a:ext cx="1868424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50800" bIns="25400"/>
          <a:lstStyle/>
          <a:p>
            <a:pPr algn="ctr">
              <a:defRPr sz="1000" b="1">
                <a:solidFill>
                  <a:srgbClr val="58A6FF"/>
                </a:solidFill>
              </a:defRPr>
            </a:pPr>
            <a:r>
              <a:t>CodeQL SAST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C9D1D9"/>
                </a:solidFill>
              </a:defRPr>
            </a:pPr>
            <a:r>
              <a:t>C# &amp; Python analysis</a:t>
            </a:r>
            <a:br/>
            <a:r>
              <a:t>Security + quality queries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3807" y="1856232"/>
            <a:ext cx="1868424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50800" bIns="25400"/>
          <a:lstStyle/>
          <a:p>
            <a:pPr algn="ctr">
              <a:defRPr sz="1000" b="1">
                <a:solidFill>
                  <a:srgbClr val="58A6FF"/>
                </a:solidFill>
              </a:defRPr>
            </a:pPr>
            <a:r>
              <a:t>Secret Scanning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C9D1D9"/>
                </a:solidFill>
              </a:defRPr>
            </a:pPr>
            <a:r>
              <a:t>Push protection</a:t>
            </a:r>
            <a:br/>
            <a:r>
              <a:t>200+ secret patterns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1856232"/>
            <a:ext cx="1868424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50800" bIns="25400"/>
          <a:lstStyle/>
          <a:p>
            <a:pPr algn="ctr">
              <a:defRPr sz="1000" b="1">
                <a:solidFill>
                  <a:srgbClr val="58A6FF"/>
                </a:solidFill>
              </a:defRPr>
            </a:pPr>
            <a:r>
              <a:t>Dependabot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C9D1D9"/>
                </a:solidFill>
              </a:defRPr>
            </a:pPr>
            <a:r>
              <a:t>NuGet, pip, Actions</a:t>
            </a:r>
            <a:br/>
            <a:r>
              <a:t>Auto-PR for updates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73055" y="1856232"/>
            <a:ext cx="1868424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50800" bIns="25400"/>
          <a:lstStyle/>
          <a:p>
            <a:pPr algn="ctr">
              <a:defRPr sz="1000" b="1">
                <a:solidFill>
                  <a:srgbClr val="58A6FF"/>
                </a:solidFill>
              </a:defRPr>
            </a:pPr>
            <a:r>
              <a:t>Dep Review + Malware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C9D1D9"/>
                </a:solidFill>
              </a:defRPr>
            </a:pPr>
            <a:r>
              <a:t>Block vulnerable deps</a:t>
            </a:r>
            <a:br/>
            <a:r>
              <a:t>Typosquatting detection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2660904"/>
            <a:ext cx="1737360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/>
          <a:lstStyle/>
          <a:p>
            <a:pPr algn="ctr">
              <a:defRPr sz="1100" b="1">
                <a:solidFill>
                  <a:srgbClr val="F0883E"/>
                </a:solidFill>
              </a:defRPr>
            </a:pPr>
            <a:r>
              <a:t>③ CI PIPELINE</a:t>
            </a:r>
            <a:br/>
            <a:r>
              <a:t>(every PR)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59" y="2660904"/>
            <a:ext cx="1868424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50800" bIns="25400"/>
          <a:lstStyle/>
          <a:p>
            <a:pPr algn="ctr">
              <a:defRPr sz="1000" b="1">
                <a:solidFill>
                  <a:srgbClr val="58A6FF"/>
                </a:solidFill>
              </a:defRPr>
            </a:pPr>
            <a:r>
              <a:t>.NET Build + Test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C9D1D9"/>
                </a:solidFill>
              </a:defRPr>
            </a:pPr>
            <a:r>
              <a:t>xUnit, FluentAssertions</a:t>
            </a:r>
            <a:br/>
            <a:r>
              <a:t>≥60% coverage gate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9183" y="2660904"/>
            <a:ext cx="1868424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50800" bIns="25400"/>
          <a:lstStyle/>
          <a:p>
            <a:pPr algn="ctr">
              <a:defRPr sz="1000" b="1">
                <a:solidFill>
                  <a:srgbClr val="58A6FF"/>
                </a:solidFill>
              </a:defRPr>
            </a:pPr>
            <a:r>
              <a:t>Python Lint + Test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C9D1D9"/>
                </a:solidFill>
              </a:defRPr>
            </a:pPr>
            <a:r>
              <a:t>Ruff + pytest + httpx</a:t>
            </a:r>
            <a:br/>
            <a:r>
              <a:t>Bandit SAST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3807" y="2660904"/>
            <a:ext cx="1868424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50800" bIns="25400"/>
          <a:lstStyle/>
          <a:p>
            <a:pPr algn="ctr">
              <a:defRPr sz="1000" b="1">
                <a:solidFill>
                  <a:srgbClr val="58A6FF"/>
                </a:solidFill>
              </a:defRPr>
            </a:pPr>
            <a:r>
              <a:t>Container Scan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C9D1D9"/>
                </a:solidFill>
              </a:defRPr>
            </a:pPr>
            <a:r>
              <a:t>MS Defender</a:t>
            </a:r>
            <a:br/>
            <a:r>
              <a:t>Image vuln scan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1" y="2660904"/>
            <a:ext cx="1868424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50800" bIns="25400"/>
          <a:lstStyle/>
          <a:p>
            <a:pPr algn="ctr">
              <a:defRPr sz="1000" b="1">
                <a:solidFill>
                  <a:srgbClr val="58A6FF"/>
                </a:solidFill>
              </a:defRPr>
            </a:pPr>
            <a:r>
              <a:t>IaC Scan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C9D1D9"/>
                </a:solidFill>
              </a:defRPr>
            </a:pPr>
            <a:r>
              <a:t>Checkov</a:t>
            </a:r>
            <a:br/>
            <a:r>
              <a:t>Bicep misconfig check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73055" y="2660904"/>
            <a:ext cx="1868424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50800" bIns="25400"/>
          <a:lstStyle/>
          <a:p>
            <a:pPr algn="ctr">
              <a:defRPr sz="1000" b="1">
                <a:solidFill>
                  <a:srgbClr val="58A6FF"/>
                </a:solidFill>
              </a:defRPr>
            </a:pPr>
            <a:r>
              <a:t>Coverage + Review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C9D1D9"/>
                </a:solidFill>
              </a:defRPr>
            </a:pPr>
            <a:r>
              <a:t>PR comments</a:t>
            </a:r>
            <a:br/>
            <a:r>
              <a:t>Dep review gate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3465576"/>
            <a:ext cx="1737360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/>
          <a:lstStyle/>
          <a:p>
            <a:pPr algn="ctr">
              <a:defRPr sz="1100" b="1">
                <a:solidFill>
                  <a:srgbClr val="F85149"/>
                </a:solidFill>
              </a:defRPr>
            </a:pPr>
            <a:r>
              <a:t>④ CD PIPELINE</a:t>
            </a:r>
            <a:br/>
            <a:r>
              <a:t>(on merge)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4559" y="3465576"/>
            <a:ext cx="1868424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50800" bIns="25400"/>
          <a:lstStyle/>
          <a:p>
            <a:pPr algn="ctr">
              <a:defRPr sz="1000" b="1">
                <a:solidFill>
                  <a:srgbClr val="58A6FF"/>
                </a:solidFill>
              </a:defRPr>
            </a:pPr>
            <a:r>
              <a:t>OIDC Auth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C9D1D9"/>
                </a:solidFill>
              </a:defRPr>
            </a:pPr>
            <a:r>
              <a:t>Zero stored credentials</a:t>
            </a:r>
            <a:br/>
            <a:r>
              <a:t>Federated identity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39183" y="3465576"/>
            <a:ext cx="1868424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50800" bIns="25400"/>
          <a:lstStyle/>
          <a:p>
            <a:pPr algn="ctr">
              <a:defRPr sz="1000" b="1">
                <a:solidFill>
                  <a:srgbClr val="58A6FF"/>
                </a:solidFill>
              </a:defRPr>
            </a:pPr>
            <a:r>
              <a:t>Notation Signing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C9D1D9"/>
                </a:solidFill>
              </a:defRPr>
            </a:pPr>
            <a:r>
              <a:t>Notary v2 image signing</a:t>
            </a:r>
            <a:br/>
            <a:r>
              <a:t>Supply chain integrity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3807" y="3465576"/>
            <a:ext cx="1868424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50800" bIns="25400"/>
          <a:lstStyle/>
          <a:p>
            <a:pPr algn="ctr">
              <a:defRPr sz="1000" b="1">
                <a:solidFill>
                  <a:srgbClr val="58A6FF"/>
                </a:solidFill>
              </a:defRPr>
            </a:pPr>
            <a:r>
              <a:t>DEV → STAGING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C9D1D9"/>
                </a:solidFill>
              </a:defRPr>
            </a:pPr>
            <a:r>
              <a:t>Auto-deploy</a:t>
            </a:r>
            <a:br/>
            <a:r>
              <a:t>Health checks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8431" y="3465576"/>
            <a:ext cx="1868424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50800" bIns="25400"/>
          <a:lstStyle/>
          <a:p>
            <a:pPr algn="ctr">
              <a:defRPr sz="1000" b="1">
                <a:solidFill>
                  <a:srgbClr val="58A6FF"/>
                </a:solidFill>
              </a:defRPr>
            </a:pPr>
            <a:r>
              <a:t>Staging Gate Report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C9D1D9"/>
                </a:solidFill>
              </a:defRPr>
            </a:pPr>
            <a:r>
              <a:t>Go/no-go readiness</a:t>
            </a:r>
            <a:br/>
            <a:r>
              <a:t>CI + signature verify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73055" y="3465576"/>
            <a:ext cx="1868424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50800" bIns="25400"/>
          <a:lstStyle/>
          <a:p>
            <a:pPr algn="ctr">
              <a:defRPr sz="1000" b="1">
                <a:solidFill>
                  <a:srgbClr val="58A6FF"/>
                </a:solidFill>
              </a:defRPr>
            </a:pPr>
            <a:r>
              <a:t>Manual Gate → PROD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C9D1D9"/>
                </a:solidFill>
              </a:defRPr>
            </a:pPr>
            <a:r>
              <a:t>Reviewer approval</a:t>
            </a:r>
            <a:br/>
            <a:r>
              <a:t>Teams notification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4270248"/>
            <a:ext cx="1737360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/>
          <a:lstStyle/>
          <a:p>
            <a:pPr algn="ctr">
              <a:defRPr sz="1100" b="1">
                <a:solidFill>
                  <a:srgbClr val="BC8CFF"/>
                </a:solidFill>
              </a:defRPr>
            </a:pPr>
            <a:r>
              <a:t>⑤ AZURE</a:t>
            </a:r>
            <a:br/>
            <a:r>
              <a:t>PLATFORM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94559" y="4270248"/>
            <a:ext cx="1868424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50800" bIns="25400"/>
          <a:lstStyle/>
          <a:p>
            <a:pPr algn="ctr">
              <a:defRPr sz="1000" b="1">
                <a:solidFill>
                  <a:srgbClr val="58A6FF"/>
                </a:solidFill>
              </a:defRPr>
            </a:pPr>
            <a:r>
              <a:t>Functions (.NET 8)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C9D1D9"/>
                </a:solidFill>
              </a:defRPr>
            </a:pPr>
            <a:r>
              <a:t>Isolated worker</a:t>
            </a:r>
            <a:br/>
            <a:r>
              <a:t>Durable orchestration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39183" y="4270248"/>
            <a:ext cx="1868424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50800" bIns="25400"/>
          <a:lstStyle/>
          <a:p>
            <a:pPr algn="ctr">
              <a:defRPr sz="1000" b="1">
                <a:solidFill>
                  <a:srgbClr val="58A6FF"/>
                </a:solidFill>
              </a:defRPr>
            </a:pPr>
            <a:r>
              <a:t>Container Apps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C9D1D9"/>
                </a:solidFill>
              </a:defRPr>
            </a:pPr>
            <a:r>
              <a:t>C# Minimal API</a:t>
            </a:r>
            <a:br/>
            <a:r>
              <a:t>Python FastAPI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3807" y="4270248"/>
            <a:ext cx="1868424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50800" bIns="25400"/>
          <a:lstStyle/>
          <a:p>
            <a:pPr algn="ctr">
              <a:defRPr sz="1000" b="1">
                <a:solidFill>
                  <a:srgbClr val="58A6FF"/>
                </a:solidFill>
              </a:defRPr>
            </a:pPr>
            <a:r>
              <a:t>Service Bus Premium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C9D1D9"/>
                </a:solidFill>
              </a:defRPr>
            </a:pPr>
            <a:r>
              <a:t>Queues + Topics</a:t>
            </a:r>
            <a:br/>
            <a:r>
              <a:t>Dead-letter &amp; audit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28431" y="4270248"/>
            <a:ext cx="1868424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50800" bIns="25400"/>
          <a:lstStyle/>
          <a:p>
            <a:pPr algn="ctr">
              <a:defRPr sz="1000" b="1">
                <a:solidFill>
                  <a:srgbClr val="58A6FF"/>
                </a:solidFill>
              </a:defRPr>
            </a:pPr>
            <a:r>
              <a:t>Key Vault + RBAC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C9D1D9"/>
                </a:solidFill>
              </a:defRPr>
            </a:pPr>
            <a:r>
              <a:t>Managed Identity</a:t>
            </a:r>
            <a:br/>
            <a:r>
              <a:t>Private endpoints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73055" y="4270248"/>
            <a:ext cx="1868424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50800" bIns="25400"/>
          <a:lstStyle/>
          <a:p>
            <a:pPr algn="ctr">
              <a:defRPr sz="1000" b="1">
                <a:solidFill>
                  <a:srgbClr val="58A6FF"/>
                </a:solidFill>
              </a:defRPr>
            </a:pPr>
            <a:r>
              <a:t>VNet + NSG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C9D1D9"/>
                </a:solidFill>
              </a:defRPr>
            </a:pPr>
            <a:r>
              <a:t>Subnet segmentation</a:t>
            </a:r>
            <a:br/>
            <a:r>
              <a:t>Deny-all default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5074920"/>
            <a:ext cx="1737360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/>
          <a:lstStyle/>
          <a:p>
            <a:pPr algn="ctr">
              <a:defRPr sz="1100" b="1">
                <a:solidFill>
                  <a:srgbClr val="56D364"/>
                </a:solidFill>
              </a:defRPr>
            </a:pPr>
            <a:r>
              <a:t>⑥ IaC +</a:t>
            </a:r>
            <a:br/>
            <a:r>
              <a:t>MONITORING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94559" y="5074920"/>
            <a:ext cx="2354580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50800" bIns="25400"/>
          <a:lstStyle/>
          <a:p>
            <a:pPr algn="ctr">
              <a:defRPr sz="1000" b="1">
                <a:solidFill>
                  <a:srgbClr val="58A6FF"/>
                </a:solidFill>
              </a:defRPr>
            </a:pPr>
            <a:r>
              <a:t>Bicep (AVM)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C9D1D9"/>
                </a:solidFill>
              </a:defRPr>
            </a:pPr>
            <a:r>
              <a:t>Subscription-scope</a:t>
            </a:r>
            <a:br/>
            <a:r>
              <a:t>Env parameterization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25339" y="5074920"/>
            <a:ext cx="2354580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50800" bIns="25400"/>
          <a:lstStyle/>
          <a:p>
            <a:pPr algn="ctr">
              <a:defRPr sz="1000" b="1">
                <a:solidFill>
                  <a:srgbClr val="58A6FF"/>
                </a:solidFill>
              </a:defRPr>
            </a:pPr>
            <a:r>
              <a:t>App Insights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C9D1D9"/>
                </a:solidFill>
              </a:defRPr>
            </a:pPr>
            <a:r>
              <a:t>Distributed tracing</a:t>
            </a:r>
            <a:br/>
            <a:r>
              <a:t>Performance metrics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56119" y="5074920"/>
            <a:ext cx="2354580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50800" bIns="25400"/>
          <a:lstStyle/>
          <a:p>
            <a:pPr algn="ctr">
              <a:defRPr sz="1000" b="1">
                <a:solidFill>
                  <a:srgbClr val="58A6FF"/>
                </a:solidFill>
              </a:defRPr>
            </a:pPr>
            <a:r>
              <a:t>Log Analytics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C9D1D9"/>
                </a:solidFill>
              </a:defRPr>
            </a:pPr>
            <a:r>
              <a:t>Centralized logs</a:t>
            </a:r>
            <a:br/>
            <a:r>
              <a:t>Diagnostic settings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86899" y="5074920"/>
            <a:ext cx="2354580" cy="749808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50800" tIns="50800" bIns="25400"/>
          <a:lstStyle/>
          <a:p>
            <a:pPr algn="ctr">
              <a:defRPr sz="1000" b="1">
                <a:solidFill>
                  <a:srgbClr val="58A6FF"/>
                </a:solidFill>
              </a:defRPr>
            </a:pPr>
            <a:r>
              <a:t>Alert Rules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C9D1D9"/>
                </a:solidFill>
              </a:defRPr>
            </a:pPr>
            <a:r>
              <a:t>Action groups</a:t>
            </a:r>
            <a:br/>
            <a:r>
              <a:t>Proactive notifications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6400800"/>
            <a:ext cx="11521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58A6FF"/>
                </a:solidFill>
              </a:defRPr>
            </a:pPr>
            <a:r>
              <a:t>Flow:  Work Item  →  Feature Branch  →  PR + CI (8 checks)  →  Merge  →  Build + Sign  →  DEV  →  STAGING  →  Gate  →  PROD  →  Telemetry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